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49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438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2D6A4F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2D6A4F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73736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Foods to Boost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Collagen Levels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566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to nutrition that supports skin, joints &amp; overall vitality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4297680"/>
            <a:ext cx="1371600" cy="54864"/>
          </a:xfrm>
          <a:prstGeom prst="rect">
            <a:avLst/>
          </a:prstGeom>
          <a:solidFill>
            <a:srgbClr val="D4603A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Collagen?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body's most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abundant protein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914400" cy="45720"/>
          </a:xfrm>
          <a:prstGeom prst="rect">
            <a:avLst/>
          </a:prstGeom>
          <a:solidFill>
            <a:srgbClr val="D460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931920" y="502920"/>
            <a:ext cx="47548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206240" y="777240"/>
            <a:ext cx="640080" cy="64008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89611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74920" y="685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Skin Elasticity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74920" y="1051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skin firm, smooth, and youthful by maintaining structural integrity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931920" y="2011680"/>
            <a:ext cx="47548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206240" y="2286000"/>
            <a:ext cx="640080" cy="64008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112" y="240487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Joint Support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074920" y="2560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Cushions and protects joints, bones, tendons, and ligaments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931920" y="3520440"/>
            <a:ext cx="47548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4206240" y="3794760"/>
            <a:ext cx="640080" cy="64008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391363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7492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 Decline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074920" y="4069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decreases with age, affecting skin firmness and joint comfort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Diet Matters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body produces collagen naturally — but diet and lifestyle can supercharge that process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657600" cy="73152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960120" y="2240280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39572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Collagen Sources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657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foods contain collagen itself, providing the protein directly to your body for use in repair and maintenance.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82880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3657600" cy="73152"/>
          </a:xfrm>
          <a:prstGeom prst="rect">
            <a:avLst/>
          </a:prstGeom>
          <a:solidFill>
            <a:srgbClr val="D460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5074920" y="2240280"/>
            <a:ext cx="731520" cy="731520"/>
          </a:xfrm>
          <a:prstGeom prst="ellipse">
            <a:avLst/>
          </a:prstGeom>
          <a:solidFill>
            <a:srgbClr val="D4603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239572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Collagen-Building Nutrients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074920" y="3657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foods supply essential co-factors like vitamin C, zinc, and amino acids that your body needs to synthesize collagen.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Food Categories for Collagen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approach across these groups supports your body's collagen production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499616" cy="292608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64108" y="2011680"/>
            <a:ext cx="685800" cy="68580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1625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Animal-Based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36576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Bones, skin &amp; cartilage rich in connective tissue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39696" y="1691640"/>
            <a:ext cx="1499616" cy="292608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2546604" y="2011680"/>
            <a:ext cx="685800" cy="68580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21625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31136" y="292608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Protein-Rich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249424" y="36576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Amino acids like glycine &amp; proline — collagen building blocks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822192" y="1691640"/>
            <a:ext cx="1499616" cy="292608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4229100" y="2011680"/>
            <a:ext cx="685800" cy="68580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976" y="216255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13632" y="292608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Vitamin 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931920" y="36576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co-factor for collagen synthesis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504688" y="1691640"/>
            <a:ext cx="1499616" cy="292608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5911596" y="2011680"/>
            <a:ext cx="685800" cy="68580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472" y="216255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96128" y="292608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Mineral-Rich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614416" y="36576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 &amp; copper activate collagen production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187184" y="1691640"/>
            <a:ext cx="1499616" cy="292608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19"/>
          <p:cNvSpPr/>
          <p:nvPr/>
        </p:nvSpPr>
        <p:spPr>
          <a:xfrm>
            <a:off x="7594092" y="2011680"/>
            <a:ext cx="685800" cy="68580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4968" y="216255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78624" y="292608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Antioxidant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296912" y="36576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existing collagen from breakdown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Animal-Based &amp; Protein-Rich Sources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7947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3152" cy="338328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60120" y="1417320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4904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Animal-Based Collagen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1847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in connective tissue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3317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2677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broth (beef, chicken, or fish)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74320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26791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 skin and cartilage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15468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5880" y="3090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Pork skin (chicharrones)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566160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25880" y="35021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with skin (salmon, sardines)</a:t>
            </a:r>
            <a:endParaRPr lang="en-US" sz="12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77640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325880" y="39136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 meats and oxtail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4709160" y="1280160"/>
            <a:ext cx="37947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2"/>
          <p:cNvSpPr/>
          <p:nvPr/>
        </p:nvSpPr>
        <p:spPr>
          <a:xfrm>
            <a:off x="4709160" y="1280160"/>
            <a:ext cx="73152" cy="3383280"/>
          </a:xfrm>
          <a:prstGeom prst="rect">
            <a:avLst/>
          </a:prstGeom>
          <a:solidFill>
            <a:srgbClr val="D460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3"/>
          <p:cNvSpPr/>
          <p:nvPr/>
        </p:nvSpPr>
        <p:spPr>
          <a:xfrm>
            <a:off x="5029200" y="1417320"/>
            <a:ext cx="548640" cy="548640"/>
          </a:xfrm>
          <a:prstGeom prst="ellipse">
            <a:avLst/>
          </a:prstGeom>
          <a:solidFill>
            <a:srgbClr val="D4603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352" y="1490472"/>
            <a:ext cx="402336" cy="40233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76072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Protein-Rich Foods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5760720" y="1847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Amino acid building blocks</a:t>
            </a:r>
            <a:endParaRPr lang="en-US" sz="11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331720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394960" y="22677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 (especially egg whites)</a:t>
            </a:r>
            <a:endParaRPr lang="en-US" sz="12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743200"/>
            <a:ext cx="201168" cy="20116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394960" y="26791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poultry and turkey</a:t>
            </a:r>
            <a:endParaRPr lang="en-US" sz="12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154680"/>
            <a:ext cx="201168" cy="20116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394960" y="3090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Legumes and lentils</a:t>
            </a:r>
            <a:endParaRPr lang="en-US" sz="12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566160"/>
            <a:ext cx="201168" cy="201168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394960" y="35021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Nuts and seeds</a:t>
            </a:r>
            <a:endParaRPr lang="en-US" sz="12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977640"/>
            <a:ext cx="201168" cy="201168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394960" y="39136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yogurt and dairy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Vitamins, Minerals &amp; Antioxidants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nutrients that fuel and protect your collagen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1460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514600" cy="64008"/>
          </a:xfrm>
          <a:prstGeom prst="rect">
            <a:avLst/>
          </a:prstGeom>
          <a:solidFill>
            <a:srgbClr val="D460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D4603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8562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Vitamin C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08760" y="2084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Collagen synthesis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60604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542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 fruits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90088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peppers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74136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Strawberries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58184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6941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Kiwi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42232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97280" y="40782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Broccoli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3337560" y="1508760"/>
            <a:ext cx="251460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3"/>
          <p:cNvSpPr/>
          <p:nvPr/>
        </p:nvSpPr>
        <p:spPr>
          <a:xfrm>
            <a:off x="3337560" y="1508760"/>
            <a:ext cx="2514600" cy="64008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14"/>
          <p:cNvSpPr/>
          <p:nvPr/>
        </p:nvSpPr>
        <p:spPr>
          <a:xfrm>
            <a:off x="3566160" y="1783080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312" y="1856232"/>
            <a:ext cx="402336" cy="40233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29768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Zinc &amp; Copper</a:t>
            </a:r>
            <a:endParaRPr lang="en-US" sz="1500" dirty="0"/>
          </a:p>
        </p:txBody>
      </p:sp>
      <p:sp>
        <p:nvSpPr>
          <p:cNvPr id="25" name="Text 16"/>
          <p:cNvSpPr/>
          <p:nvPr/>
        </p:nvSpPr>
        <p:spPr>
          <a:xfrm>
            <a:off x="4297680" y="2084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production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606040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886200" y="2542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Oysters &amp; shellfish</a:t>
            </a:r>
            <a:endParaRPr lang="en-US" sz="12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990088"/>
            <a:ext cx="182880" cy="18288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388620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Pumpkin seeds</a:t>
            </a:r>
            <a:endParaRPr lang="en-US" sz="12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3374136"/>
            <a:ext cx="182880" cy="18288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3886200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Cashews</a:t>
            </a:r>
            <a:endParaRPr lang="en-US" sz="12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3758184"/>
            <a:ext cx="182880" cy="18288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3886200" y="36941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chocolate</a:t>
            </a:r>
            <a:endParaRPr lang="en-US" sz="1200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4142232"/>
            <a:ext cx="182880" cy="182880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3886200" y="40782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Chickpeas</a:t>
            </a:r>
            <a:endParaRPr lang="en-US" sz="1200" dirty="0"/>
          </a:p>
        </p:txBody>
      </p:sp>
      <p:sp>
        <p:nvSpPr>
          <p:cNvPr id="36" name="Shape 22"/>
          <p:cNvSpPr/>
          <p:nvPr/>
        </p:nvSpPr>
        <p:spPr>
          <a:xfrm>
            <a:off x="6126480" y="1508760"/>
            <a:ext cx="251460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23"/>
          <p:cNvSpPr/>
          <p:nvPr/>
        </p:nvSpPr>
        <p:spPr>
          <a:xfrm>
            <a:off x="6126480" y="1508760"/>
            <a:ext cx="2514600" cy="64008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24"/>
          <p:cNvSpPr/>
          <p:nvPr/>
        </p:nvSpPr>
        <p:spPr>
          <a:xfrm>
            <a:off x="6355080" y="1783080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1856232"/>
            <a:ext cx="402336" cy="402336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708660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Antioxidants</a:t>
            </a:r>
            <a:endParaRPr lang="en-US" sz="1500" dirty="0"/>
          </a:p>
        </p:txBody>
      </p:sp>
      <p:sp>
        <p:nvSpPr>
          <p:cNvPr id="41" name="Text 26"/>
          <p:cNvSpPr/>
          <p:nvPr/>
        </p:nvSpPr>
        <p:spPr>
          <a:xfrm>
            <a:off x="7086600" y="2084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collagen</a:t>
            </a:r>
            <a:endParaRPr lang="en-US" sz="11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606040"/>
            <a:ext cx="182880" cy="182880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6675120" y="2542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Berries (blueberry, acai)</a:t>
            </a:r>
            <a:endParaRPr lang="en-US" sz="1200" dirty="0"/>
          </a:p>
        </p:txBody>
      </p:sp>
      <p:pic>
        <p:nvPicPr>
          <p:cNvPr id="44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990088"/>
            <a:ext cx="182880" cy="182880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667512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Leafy greens</a:t>
            </a:r>
            <a:endParaRPr lang="en-US" sz="1200" dirty="0"/>
          </a:p>
        </p:txBody>
      </p:sp>
      <p:pic>
        <p:nvPicPr>
          <p:cNvPr id="46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374136"/>
            <a:ext cx="182880" cy="182880"/>
          </a:xfrm>
          <a:prstGeom prst="rect">
            <a:avLst/>
          </a:prstGeom>
        </p:spPr>
      </p:pic>
      <p:sp>
        <p:nvSpPr>
          <p:cNvPr id="47" name="Text 29"/>
          <p:cNvSpPr/>
          <p:nvPr/>
        </p:nvSpPr>
        <p:spPr>
          <a:xfrm>
            <a:off x="6675120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Tomatoes</a:t>
            </a:r>
            <a:endParaRPr lang="en-US" sz="1200" dirty="0"/>
          </a:p>
        </p:txBody>
      </p:sp>
      <p:pic>
        <p:nvPicPr>
          <p:cNvPr id="48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758184"/>
            <a:ext cx="182880" cy="182880"/>
          </a:xfrm>
          <a:prstGeom prst="rect">
            <a:avLst/>
          </a:prstGeom>
        </p:spPr>
      </p:pic>
      <p:sp>
        <p:nvSpPr>
          <p:cNvPr id="49" name="Text 30"/>
          <p:cNvSpPr/>
          <p:nvPr/>
        </p:nvSpPr>
        <p:spPr>
          <a:xfrm>
            <a:off x="6675120" y="36941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tea</a:t>
            </a:r>
            <a:endParaRPr lang="en-US" sz="1200" dirty="0"/>
          </a:p>
        </p:txBody>
      </p:sp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142232"/>
            <a:ext cx="182880" cy="182880"/>
          </a:xfrm>
          <a:prstGeom prst="rect">
            <a:avLst/>
          </a:prstGeom>
        </p:spPr>
      </p:pic>
      <p:sp>
        <p:nvSpPr>
          <p:cNvPr id="51" name="Text 31"/>
          <p:cNvSpPr/>
          <p:nvPr/>
        </p:nvSpPr>
        <p:spPr>
          <a:xfrm>
            <a:off x="6675120" y="40782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grapes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2D6A4F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2D6A4F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6400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645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Takeaway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097280" y="24688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collagen isn't about one superfood —</a:t>
            </a:r>
            <a:endParaRPr lang="en-US" sz="16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about regularly combining nutrient-dense foods</a:t>
            </a:r>
            <a:endParaRPr lang="en-US" sz="16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help your body maintain connective tissue health over time.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931920" y="3794760"/>
            <a:ext cx="1280160" cy="45720"/>
          </a:xfrm>
          <a:prstGeom prst="rect">
            <a:avLst/>
          </a:prstGeom>
          <a:solidFill>
            <a:srgbClr val="D460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828800" y="4069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Eat diverse · Stay consistent · Support your body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358</Words>
  <Application>Microsoft Office PowerPoint</Application>
  <PresentationFormat>On-screen Show (16:9)</PresentationFormat>
  <Paragraphs>86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Fakhrul Syahmi</dc:creator>
  <cp:lastModifiedBy>Fakhrul Syahmi</cp:lastModifiedBy>
  <cp:revision>1</cp:revision>
  <dcterms:created xsi:type="dcterms:W3CDTF">2026-04-14T04:15:55Z</dcterms:created>
  <dcterms:modified xsi:type="dcterms:W3CDTF">2026-04-14T04:25:57Z</dcterms:modified>
</cp:coreProperties>
</file>